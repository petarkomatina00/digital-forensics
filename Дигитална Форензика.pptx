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54135C-1E1E-01E4-2890-0652363D66EA}" v="3059" dt="2025-09-11T21:32:57.0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405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44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48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80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09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65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44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7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26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56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00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loudshark.org/api/v1/%3Ctoken_i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hat.com/en/blog/introduction-using-tcpdump-linux-command-line" TargetMode="External"/><Relationship Id="rId2" Type="http://schemas.openxmlformats.org/officeDocument/2006/relationships/hyperlink" Target="https://www.wireshark.org/docs/wsug_html_chunked/ChapterIntroduction.html#ChIntroWhatI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computer-networks/open-systems-interconnection-model-osi/" TargetMode="External"/><Relationship Id="rId4" Type="http://schemas.openxmlformats.org/officeDocument/2006/relationships/hyperlink" Target="https://support.qacafe.com/cloudshark/api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3400" y="4702835"/>
            <a:ext cx="10801350" cy="9787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err="1">
                <a:latin typeface="Segoe UI"/>
                <a:cs typeface="Segoe UI"/>
              </a:rPr>
              <a:t>Форензика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мрежног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саобраћаја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помоћу</a:t>
            </a:r>
            <a:r>
              <a:rPr lang="en-US" sz="2800" dirty="0">
                <a:latin typeface="Segoe UI"/>
                <a:cs typeface="Segoe UI"/>
              </a:rPr>
              <a:t> Wireshark-a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064" y="5717566"/>
            <a:ext cx="9470954" cy="53398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latin typeface="Segoe UI"/>
                <a:cs typeface="Times New Roman"/>
              </a:rPr>
              <a:t>        </a:t>
            </a:r>
            <a:r>
              <a:rPr lang="en-US" sz="1800" dirty="0" err="1">
                <a:latin typeface="Segoe UI"/>
                <a:cs typeface="Times New Roman"/>
              </a:rPr>
              <a:t>Студент</a:t>
            </a:r>
            <a:r>
              <a:rPr lang="en-US" sz="1800" dirty="0">
                <a:latin typeface="Segoe UI"/>
                <a:cs typeface="Times New Roman"/>
              </a:rPr>
              <a:t>: </a:t>
            </a:r>
            <a:endParaRPr lang="en-US" sz="1800" dirty="0">
              <a:latin typeface="Segoe UI"/>
              <a:cs typeface="Segoe UI"/>
            </a:endParaRPr>
          </a:p>
          <a:p>
            <a:r>
              <a:rPr lang="en-US" sz="1800" err="1">
                <a:latin typeface="Segoe UI"/>
                <a:cs typeface="Times New Roman"/>
              </a:rPr>
              <a:t>Петар</a:t>
            </a:r>
            <a:r>
              <a:rPr lang="en-US" sz="1800" dirty="0">
                <a:latin typeface="Segoe UI"/>
                <a:cs typeface="Times New Roman"/>
              </a:rPr>
              <a:t> </a:t>
            </a:r>
            <a:r>
              <a:rPr lang="en-US" sz="1800" err="1">
                <a:latin typeface="Segoe UI"/>
                <a:cs typeface="Times New Roman"/>
              </a:rPr>
              <a:t>Коматина</a:t>
            </a:r>
            <a:r>
              <a:rPr lang="en-US" sz="1800" dirty="0">
                <a:latin typeface="Segoe UI"/>
                <a:cs typeface="Times New Roman"/>
              </a:rPr>
              <a:t> </a:t>
            </a:r>
            <a:r>
              <a:rPr lang="en-US" sz="1800" err="1">
                <a:latin typeface="Segoe UI"/>
                <a:cs typeface="Times New Roman"/>
              </a:rPr>
              <a:t>бр</a:t>
            </a:r>
            <a:r>
              <a:rPr lang="en-US" sz="1800" dirty="0">
                <a:latin typeface="Segoe UI"/>
                <a:cs typeface="Times New Roman"/>
              </a:rPr>
              <a:t>. </a:t>
            </a:r>
            <a:r>
              <a:rPr lang="en-US" sz="1800" err="1">
                <a:latin typeface="Segoe UI"/>
                <a:cs typeface="Times New Roman"/>
              </a:rPr>
              <a:t>инд</a:t>
            </a:r>
            <a:r>
              <a:rPr lang="en-US" sz="1800" dirty="0">
                <a:latin typeface="Segoe UI"/>
                <a:cs typeface="Times New Roman"/>
              </a:rPr>
              <a:t>. 1932</a:t>
            </a:r>
            <a:endParaRPr lang="en-US" sz="18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5508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BF21FDF-AD42-1072-CEC8-ECED1CB94B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2" r="-3" b="-3"/>
          <a:stretch>
            <a:fillRect/>
          </a:stretch>
        </p:blipFill>
        <p:spPr>
          <a:xfrm>
            <a:off x="800100" y="712915"/>
            <a:ext cx="10591800" cy="384216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4BF481B-76E2-055F-F7FB-7324EF8B44EF}"/>
              </a:ext>
            </a:extLst>
          </p:cNvPr>
          <p:cNvSpPr txBox="1">
            <a:spLocks/>
          </p:cNvSpPr>
          <p:nvPr/>
        </p:nvSpPr>
        <p:spPr>
          <a:xfrm>
            <a:off x="6248400" y="5732397"/>
            <a:ext cx="5034064" cy="7559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>
                <a:latin typeface="Segoe UI"/>
                <a:cs typeface="Times New Roman"/>
              </a:rPr>
              <a:t>Професор</a:t>
            </a:r>
            <a:r>
              <a:rPr lang="en-US" sz="1800" dirty="0">
                <a:latin typeface="Segoe UI"/>
                <a:cs typeface="Times New Roman"/>
              </a:rPr>
              <a:t>: </a:t>
            </a:r>
          </a:p>
          <a:p>
            <a:r>
              <a:rPr lang="en-US" sz="1800" dirty="0" err="1">
                <a:latin typeface="Segoe UI"/>
                <a:cs typeface="Times New Roman"/>
              </a:rPr>
              <a:t>Проф</a:t>
            </a:r>
            <a:r>
              <a:rPr lang="en-US" sz="1800" dirty="0">
                <a:latin typeface="Segoe UI"/>
                <a:cs typeface="Times New Roman"/>
              </a:rPr>
              <a:t>. </a:t>
            </a:r>
            <a:r>
              <a:rPr lang="en-US" sz="1800" dirty="0" err="1">
                <a:latin typeface="Segoe UI"/>
                <a:cs typeface="Times New Roman"/>
              </a:rPr>
              <a:t>Др</a:t>
            </a:r>
            <a:r>
              <a:rPr lang="en-US" sz="1800" dirty="0">
                <a:latin typeface="Segoe UI"/>
                <a:cs typeface="Times New Roman"/>
              </a:rPr>
              <a:t>. </a:t>
            </a:r>
            <a:r>
              <a:rPr lang="en-US" sz="1800" dirty="0" err="1">
                <a:latin typeface="Segoe UI"/>
                <a:cs typeface="Times New Roman"/>
              </a:rPr>
              <a:t>Братислав</a:t>
            </a:r>
            <a:r>
              <a:rPr lang="en-US" sz="1800" dirty="0">
                <a:latin typeface="Segoe UI"/>
                <a:cs typeface="Times New Roman"/>
              </a:rPr>
              <a:t> </a:t>
            </a:r>
            <a:r>
              <a:rPr lang="en-US" sz="1800" dirty="0" err="1">
                <a:latin typeface="Segoe UI"/>
                <a:cs typeface="Times New Roman"/>
              </a:rPr>
              <a:t>Предић</a:t>
            </a:r>
            <a:endParaRPr lang="en-US" sz="1800" dirty="0">
              <a:latin typeface="Segoe U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4220-B88E-88A0-A8AD-BD674101A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Segoe UI"/>
                <a:cs typeface="Segoe UI"/>
              </a:rPr>
              <a:t>Увод</a:t>
            </a:r>
            <a:endParaRPr lang="en-US" dirty="0">
              <a:latin typeface="Segoe UI"/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8FB23-C704-2D8F-6B98-6059DC5F2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910824" cy="35407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Segoe UI"/>
                <a:cs typeface="Segoe UI"/>
              </a:rPr>
              <a:t>Форензика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мрежног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саобраћа</a:t>
            </a:r>
            <a:r>
              <a:rPr lang="en-US" dirty="0">
                <a:latin typeface="Segoe UI"/>
                <a:cs typeface="Segoe UI"/>
              </a:rPr>
              <a:t> </a:t>
            </a:r>
            <a:r>
              <a:rPr lang="en-US" dirty="0" err="1">
                <a:latin typeface="Segoe UI"/>
                <a:cs typeface="Segoe UI"/>
              </a:rPr>
              <a:t>подразумева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посматрање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комуникације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између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две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машине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са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циљем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утврђивања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да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ли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постоје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неправилности</a:t>
            </a:r>
            <a:r>
              <a:rPr lang="en-US" dirty="0">
                <a:latin typeface="Segoe UI"/>
                <a:cs typeface="Segoe UI"/>
              </a:rPr>
              <a:t> у </a:t>
            </a:r>
            <a:r>
              <a:rPr lang="en-US" dirty="0" err="1">
                <a:latin typeface="Segoe UI"/>
                <a:cs typeface="Segoe UI"/>
              </a:rPr>
              <a:t>комуникацији</a:t>
            </a:r>
            <a:r>
              <a:rPr lang="en-US" dirty="0">
                <a:latin typeface="Segoe UI"/>
                <a:cs typeface="Segoe UI"/>
              </a:rPr>
              <a:t>. </a:t>
            </a:r>
          </a:p>
          <a:p>
            <a:r>
              <a:rPr lang="en-US" dirty="0" err="1">
                <a:latin typeface="Segoe UI"/>
                <a:cs typeface="Segoe UI"/>
              </a:rPr>
              <a:t>Нежељени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гости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тј</a:t>
            </a:r>
            <a:r>
              <a:rPr lang="en-US" dirty="0">
                <a:latin typeface="Segoe UI"/>
                <a:cs typeface="Segoe UI"/>
              </a:rPr>
              <a:t>. </a:t>
            </a:r>
            <a:r>
              <a:rPr lang="en-US" dirty="0" err="1">
                <a:latin typeface="Segoe UI"/>
                <a:cs typeface="Segoe UI"/>
              </a:rPr>
              <a:t>мрежни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криминалнци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могу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напасти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мрежу</a:t>
            </a:r>
            <a:r>
              <a:rPr lang="en-US" dirty="0">
                <a:latin typeface="Segoe UI"/>
                <a:cs typeface="Segoe UI"/>
              </a:rPr>
              <a:t>, </a:t>
            </a:r>
            <a:r>
              <a:rPr lang="en-US" dirty="0" err="1">
                <a:latin typeface="Segoe UI"/>
                <a:cs typeface="Segoe UI"/>
              </a:rPr>
              <a:t>док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тим</a:t>
            </a:r>
            <a:r>
              <a:rPr lang="en-US" dirty="0">
                <a:latin typeface="Segoe UI"/>
                <a:cs typeface="Segoe UI"/>
              </a:rPr>
              <a:t> </a:t>
            </a:r>
            <a:r>
              <a:rPr lang="en-US" dirty="0" err="1">
                <a:latin typeface="Segoe UI"/>
                <a:cs typeface="Segoe UI"/>
              </a:rPr>
              <a:t>задужен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за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безбедност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користи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софтверске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алате</a:t>
            </a:r>
            <a:r>
              <a:rPr lang="en-US" dirty="0">
                <a:latin typeface="Segoe UI"/>
                <a:cs typeface="Segoe UI"/>
              </a:rPr>
              <a:t> </a:t>
            </a:r>
            <a:r>
              <a:rPr lang="en-US" dirty="0" err="1">
                <a:latin typeface="Segoe UI"/>
                <a:cs typeface="Segoe UI"/>
              </a:rPr>
              <a:t>ради</a:t>
            </a:r>
            <a:r>
              <a:rPr lang="en-US" dirty="0">
                <a:latin typeface="Segoe UI"/>
                <a:cs typeface="Segoe UI"/>
              </a:rPr>
              <a:t> </a:t>
            </a:r>
            <a:r>
              <a:rPr lang="en-US" dirty="0" err="1">
                <a:latin typeface="Segoe UI"/>
                <a:cs typeface="Segoe UI"/>
              </a:rPr>
              <a:t>идентификовања</a:t>
            </a:r>
            <a:r>
              <a:rPr lang="en-US" dirty="0">
                <a:latin typeface="Segoe UI"/>
                <a:cs typeface="Segoe UI"/>
              </a:rPr>
              <a:t> и </a:t>
            </a:r>
            <a:r>
              <a:rPr lang="en-US" dirty="0" err="1">
                <a:latin typeface="Segoe UI"/>
                <a:cs typeface="Segoe UI"/>
              </a:rPr>
              <a:t>спречавања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напада</a:t>
            </a:r>
            <a:r>
              <a:rPr lang="en-US" dirty="0">
                <a:latin typeface="Segoe UI"/>
                <a:cs typeface="Segoe UI"/>
              </a:rPr>
              <a:t>.</a:t>
            </a:r>
            <a:endParaRPr lang="en-US">
              <a:latin typeface="Segoe UI"/>
              <a:cs typeface="Segoe UI"/>
            </a:endParaRPr>
          </a:p>
          <a:p>
            <a:r>
              <a:rPr lang="en-US" dirty="0" err="1">
                <a:latin typeface="Segoe UI"/>
                <a:cs typeface="Segoe UI"/>
              </a:rPr>
              <a:t>Једни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од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алата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који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се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користе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су</a:t>
            </a:r>
            <a:r>
              <a:rPr lang="en-US" dirty="0">
                <a:latin typeface="Segoe UI"/>
                <a:cs typeface="Segoe UI"/>
              </a:rPr>
              <a:t>: Wireshark, </a:t>
            </a:r>
            <a:r>
              <a:rPr lang="en-US" dirty="0" err="1">
                <a:latin typeface="Segoe UI"/>
                <a:cs typeface="Segoe UI"/>
              </a:rPr>
              <a:t>TcpDump</a:t>
            </a:r>
            <a:r>
              <a:rPr lang="en-US" dirty="0">
                <a:latin typeface="Segoe UI"/>
                <a:cs typeface="Segoe UI"/>
              </a:rPr>
              <a:t> и </a:t>
            </a:r>
            <a:r>
              <a:rPr lang="en-US" dirty="0" err="1">
                <a:latin typeface="Segoe UI"/>
                <a:cs typeface="Segoe UI"/>
              </a:rPr>
              <a:t>CloudShark</a:t>
            </a:r>
            <a:r>
              <a:rPr lang="en-US" dirty="0">
                <a:latin typeface="Segoe UI"/>
                <a:cs typeface="Segoe UI"/>
              </a:rPr>
              <a:t>.</a:t>
            </a:r>
            <a:endParaRPr lang="en-US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1840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58312-42A9-C426-EA18-0CEDBD82B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6316563" cy="1500966"/>
          </a:xfrm>
        </p:spPr>
        <p:txBody>
          <a:bodyPr/>
          <a:lstStyle/>
          <a:p>
            <a:r>
              <a:rPr lang="en-US" dirty="0"/>
              <a:t>Wireshark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A3C40-56EF-A678-288D-6A086F0A2C20}"/>
              </a:ext>
            </a:extLst>
          </p:cNvPr>
          <p:cNvSpPr txBox="1"/>
          <p:nvPr/>
        </p:nvSpPr>
        <p:spPr>
          <a:xfrm>
            <a:off x="902949" y="2178296"/>
            <a:ext cx="1057866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err="1">
                <a:latin typeface="Segoe UI"/>
                <a:cs typeface="Segoe UI"/>
              </a:rPr>
              <a:t>Представља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стандард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за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анализу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мрежног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саобраћаја</a:t>
            </a:r>
            <a:r>
              <a:rPr lang="en-US" sz="2000" dirty="0">
                <a:latin typeface="Segoe UI"/>
                <a:cs typeface="Segoe UI"/>
              </a:rPr>
              <a:t>. </a:t>
            </a:r>
            <a:r>
              <a:rPr lang="en-US" sz="2000" err="1">
                <a:latin typeface="Segoe UI"/>
                <a:cs typeface="Segoe UI"/>
              </a:rPr>
              <a:t>Преко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визуелног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корисничког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интефејса</a:t>
            </a:r>
            <a:r>
              <a:rPr lang="en-US" sz="2000" dirty="0">
                <a:latin typeface="Segoe UI"/>
                <a:cs typeface="Segoe UI"/>
              </a:rPr>
              <a:t> </a:t>
            </a:r>
            <a:r>
              <a:rPr lang="en-US" sz="2000" err="1">
                <a:latin typeface="Segoe UI"/>
                <a:cs typeface="Segoe UI"/>
              </a:rPr>
              <a:t>пружа</a:t>
            </a:r>
            <a:r>
              <a:rPr lang="en-US" sz="2000" dirty="0">
                <a:latin typeface="Segoe UI"/>
                <a:cs typeface="Segoe UI"/>
              </a:rPr>
              <a:t> </a:t>
            </a:r>
            <a:r>
              <a:rPr lang="en-US" sz="2000" err="1">
                <a:latin typeface="Segoe UI"/>
                <a:cs typeface="Segoe UI"/>
              </a:rPr>
              <a:t>увид</a:t>
            </a:r>
            <a:r>
              <a:rPr lang="en-US" sz="2000" dirty="0">
                <a:latin typeface="Segoe UI"/>
                <a:cs typeface="Segoe UI"/>
              </a:rPr>
              <a:t> у </a:t>
            </a:r>
            <a:r>
              <a:rPr lang="en-US" sz="2000" err="1">
                <a:latin typeface="Segoe UI"/>
                <a:cs typeface="Segoe UI"/>
              </a:rPr>
              <a:t>протоколе</a:t>
            </a:r>
            <a:r>
              <a:rPr lang="en-US" sz="2000" dirty="0">
                <a:latin typeface="Segoe UI"/>
                <a:cs typeface="Segoe UI"/>
              </a:rPr>
              <a:t> и </a:t>
            </a:r>
            <a:r>
              <a:rPr lang="en-US" sz="2000" err="1">
                <a:latin typeface="Segoe UI"/>
                <a:cs typeface="Segoe UI"/>
              </a:rPr>
              <a:t>заглавља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пакета</a:t>
            </a:r>
            <a:r>
              <a:rPr lang="en-US" sz="2000" dirty="0">
                <a:latin typeface="Segoe UI"/>
                <a:cs typeface="Segoe UI"/>
              </a:rPr>
              <a:t>. </a:t>
            </a:r>
          </a:p>
          <a:p>
            <a:pPr marL="285750" indent="-285750">
              <a:buFont typeface="Arial"/>
              <a:buChar char="•"/>
            </a:pPr>
            <a:r>
              <a:rPr lang="en-US" sz="2000" err="1">
                <a:latin typeface="Segoe UI"/>
                <a:cs typeface="Segoe UI"/>
              </a:rPr>
              <a:t>Приликом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покретања</a:t>
            </a:r>
            <a:r>
              <a:rPr lang="en-US" sz="2000" dirty="0">
                <a:latin typeface="Segoe UI"/>
                <a:cs typeface="Segoe UI"/>
              </a:rPr>
              <a:t> </a:t>
            </a:r>
            <a:r>
              <a:rPr lang="en-US" sz="2000" err="1">
                <a:latin typeface="Segoe UI"/>
                <a:cs typeface="Segoe UI"/>
              </a:rPr>
              <a:t>апликације</a:t>
            </a:r>
            <a:r>
              <a:rPr lang="en-US" sz="2000" dirty="0">
                <a:latin typeface="Segoe UI"/>
                <a:cs typeface="Segoe UI"/>
              </a:rPr>
              <a:t>, </a:t>
            </a:r>
            <a:r>
              <a:rPr lang="en-US" sz="2000" err="1">
                <a:latin typeface="Segoe UI"/>
                <a:cs typeface="Segoe UI"/>
              </a:rPr>
              <a:t>једноставним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одабиром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мрежне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картице</a:t>
            </a:r>
            <a:r>
              <a:rPr lang="en-US" sz="2000" dirty="0">
                <a:latin typeface="Segoe UI"/>
                <a:cs typeface="Segoe UI"/>
              </a:rPr>
              <a:t> </a:t>
            </a:r>
            <a:r>
              <a:rPr lang="en-US" sz="2000" err="1">
                <a:latin typeface="Segoe UI"/>
                <a:cs typeface="Segoe UI"/>
              </a:rPr>
              <a:t>снимају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се</a:t>
            </a:r>
            <a:r>
              <a:rPr lang="en-US" sz="2000" dirty="0">
                <a:latin typeface="Segoe UI"/>
                <a:cs typeface="Segoe UI"/>
              </a:rPr>
              <a:t> </a:t>
            </a:r>
            <a:r>
              <a:rPr lang="en-US" sz="2000" err="1">
                <a:latin typeface="Segoe UI"/>
                <a:cs typeface="Segoe UI"/>
              </a:rPr>
              <a:t>пакети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који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кроз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њу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пролазе</a:t>
            </a:r>
            <a:r>
              <a:rPr lang="en-US" sz="2000" dirty="0">
                <a:latin typeface="Segoe UI"/>
                <a:cs typeface="Segoe UI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2000" err="1">
                <a:latin typeface="Segoe UI"/>
                <a:cs typeface="Segoe UI"/>
              </a:rPr>
              <a:t>Постоје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напред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не</a:t>
            </a:r>
            <a:r>
              <a:rPr lang="en-US" sz="2000" dirty="0">
                <a:latin typeface="Segoe UI"/>
                <a:cs typeface="Segoe UI"/>
              </a:rPr>
              <a:t> </a:t>
            </a:r>
            <a:r>
              <a:rPr lang="en-US" sz="2000" err="1">
                <a:latin typeface="Segoe UI"/>
                <a:cs typeface="Segoe UI"/>
              </a:rPr>
              <a:t>опције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за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бржи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преглед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конверзације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између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машина</a:t>
            </a:r>
            <a:r>
              <a:rPr lang="en-US" sz="2000" dirty="0">
                <a:latin typeface="Segoe UI"/>
                <a:cs typeface="Segoe UI"/>
              </a:rPr>
              <a:t>, </a:t>
            </a:r>
            <a:r>
              <a:rPr lang="en-US" sz="2000" err="1">
                <a:latin typeface="Segoe UI"/>
                <a:cs typeface="Segoe UI"/>
              </a:rPr>
              <a:t>филтрирање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саобраћаја</a:t>
            </a:r>
            <a:r>
              <a:rPr lang="en-US" sz="2000" dirty="0">
                <a:latin typeface="Segoe UI"/>
                <a:cs typeface="Segoe UI"/>
              </a:rPr>
              <a:t>, </a:t>
            </a:r>
            <a:r>
              <a:rPr lang="en-US" sz="2000" err="1">
                <a:latin typeface="Segoe UI"/>
                <a:cs typeface="Segoe UI"/>
              </a:rPr>
              <a:t>цртање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графова</a:t>
            </a:r>
            <a:r>
              <a:rPr lang="en-US" sz="2000" dirty="0">
                <a:latin typeface="Segoe UI"/>
                <a:cs typeface="Segoe UI"/>
              </a:rPr>
              <a:t> и </a:t>
            </a:r>
            <a:r>
              <a:rPr lang="en-US" sz="2000" err="1">
                <a:latin typeface="Segoe UI"/>
                <a:cs typeface="Segoe UI"/>
              </a:rPr>
              <a:t>генерисање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статистике</a:t>
            </a:r>
            <a:r>
              <a:rPr lang="en-US" sz="2000" dirty="0">
                <a:latin typeface="Segoe UI"/>
                <a:cs typeface="Segoe UI"/>
              </a:rPr>
              <a:t>.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06F511-03DF-563A-1419-1C8A791EF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519" y="4224176"/>
            <a:ext cx="7484963" cy="175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65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03D33-E144-A970-0F15-03AB7ECB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Segoe UI"/>
                <a:cs typeface="Segoe UI"/>
              </a:rPr>
              <a:t>TcpDUMP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55857-37B5-4F4D-109A-C0CD5FF00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Segoe UI"/>
                <a:cs typeface="Segoe UI"/>
              </a:rPr>
              <a:t>Командно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линијски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алат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који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омогућава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да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се</a:t>
            </a:r>
            <a:r>
              <a:rPr lang="en-US" dirty="0">
                <a:latin typeface="Segoe UI"/>
                <a:cs typeface="Segoe UI"/>
              </a:rPr>
              <a:t> у </a:t>
            </a:r>
            <a:r>
              <a:rPr lang="en-US" err="1">
                <a:latin typeface="Segoe UI"/>
                <a:cs typeface="Segoe UI"/>
              </a:rPr>
              <a:t>реалном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времету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прате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пакети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који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пролазе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кроз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изабрани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мрежни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интерфејс</a:t>
            </a:r>
            <a:r>
              <a:rPr lang="en-US" dirty="0">
                <a:latin typeface="Segoe UI"/>
                <a:cs typeface="Segoe UI"/>
              </a:rPr>
              <a:t>. </a:t>
            </a:r>
          </a:p>
          <a:p>
            <a:r>
              <a:rPr lang="en-US" err="1">
                <a:latin typeface="Segoe UI"/>
                <a:cs typeface="Segoe UI"/>
              </a:rPr>
              <a:t>Користи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се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i="1" dirty="0">
                <a:latin typeface="Segoe UI"/>
                <a:cs typeface="Segoe UI"/>
              </a:rPr>
              <a:t>"BPF"</a:t>
            </a:r>
            <a:r>
              <a:rPr lang="en-US" dirty="0">
                <a:latin typeface="Segoe UI"/>
                <a:cs typeface="Segoe UI"/>
              </a:rPr>
              <a:t> (</a:t>
            </a:r>
            <a:r>
              <a:rPr lang="en-US" err="1">
                <a:latin typeface="Segoe UI"/>
                <a:cs typeface="Segoe UI"/>
              </a:rPr>
              <a:t>Berkelez</a:t>
            </a:r>
            <a:r>
              <a:rPr lang="en-US" dirty="0">
                <a:latin typeface="Segoe UI"/>
                <a:cs typeface="Segoe UI"/>
              </a:rPr>
              <a:t> Packet Filter) </a:t>
            </a:r>
            <a:r>
              <a:rPr lang="en-US" err="1">
                <a:latin typeface="Segoe UI"/>
                <a:cs typeface="Segoe UI"/>
              </a:rPr>
              <a:t>за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лимитирање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саобраћаја</a:t>
            </a:r>
            <a:r>
              <a:rPr lang="en-US" dirty="0">
                <a:latin typeface="Segoe UI"/>
                <a:cs typeface="Segoe UI"/>
              </a:rPr>
              <a:t>. </a:t>
            </a:r>
          </a:p>
          <a:p>
            <a:r>
              <a:rPr lang="en-US" err="1">
                <a:latin typeface="Segoe UI"/>
                <a:cs typeface="Segoe UI"/>
              </a:rPr>
              <a:t>Подржава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i="1" dirty="0">
                <a:latin typeface="Segoe UI"/>
                <a:cs typeface="Segoe UI"/>
              </a:rPr>
              <a:t>"promiscuous mode".</a:t>
            </a:r>
          </a:p>
          <a:p>
            <a:r>
              <a:rPr lang="en-US" err="1">
                <a:latin typeface="Segoe UI"/>
                <a:cs typeface="Segoe UI"/>
              </a:rPr>
              <a:t>Користи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се</a:t>
            </a:r>
            <a:r>
              <a:rPr lang="en-US" dirty="0">
                <a:latin typeface="Segoe UI"/>
                <a:cs typeface="Segoe UI"/>
              </a:rPr>
              <a:t> </a:t>
            </a:r>
            <a:r>
              <a:rPr lang="en-US" err="1">
                <a:latin typeface="Segoe UI"/>
                <a:cs typeface="Segoe UI"/>
              </a:rPr>
              <a:t>за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рад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на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серверима</a:t>
            </a:r>
            <a:r>
              <a:rPr lang="en-US" dirty="0">
                <a:latin typeface="Segoe UI"/>
                <a:cs typeface="Segoe UI"/>
              </a:rPr>
              <a:t>.</a:t>
            </a:r>
          </a:p>
          <a:p>
            <a:r>
              <a:rPr lang="en-US" err="1">
                <a:latin typeface="Segoe UI"/>
                <a:cs typeface="Segoe UI"/>
              </a:rPr>
              <a:t>Нема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графичког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интерфејса</a:t>
            </a:r>
            <a:r>
              <a:rPr lang="en-US" dirty="0">
                <a:latin typeface="Segoe UI"/>
                <a:cs typeface="Segoe UI"/>
              </a:rPr>
              <a:t>.</a:t>
            </a:r>
            <a:endParaRPr lang="en-US">
              <a:latin typeface="Segoe UI"/>
              <a:cs typeface="Segoe U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47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4CF53-3510-272E-1452-FE367BDFB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Segoe UI"/>
                <a:cs typeface="Segoe UI"/>
              </a:rPr>
              <a:t>Cloudshark</a:t>
            </a:r>
            <a:r>
              <a:rPr lang="en-US" dirty="0">
                <a:latin typeface="Segoe UI"/>
                <a:cs typeface="Segoe UI"/>
              </a:rPr>
              <a:t>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A6ED5-3C8A-3158-1740-43DAD20F1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Segoe UI"/>
                <a:cs typeface="Segoe UI"/>
              </a:rPr>
              <a:t>Алат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који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омогућава</a:t>
            </a:r>
            <a:r>
              <a:rPr lang="en-US" dirty="0">
                <a:latin typeface="Segoe UI"/>
                <a:cs typeface="Segoe UI"/>
              </a:rPr>
              <a:t> </a:t>
            </a:r>
            <a:r>
              <a:rPr lang="en-US" err="1">
                <a:latin typeface="Segoe UI"/>
                <a:cs typeface="Segoe UI"/>
              </a:rPr>
              <a:t>преглед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пакета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преко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веб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претраживача</a:t>
            </a:r>
            <a:r>
              <a:rPr lang="en-US" dirty="0">
                <a:latin typeface="Segoe UI"/>
                <a:cs typeface="Segoe UI"/>
              </a:rPr>
              <a:t>.</a:t>
            </a:r>
          </a:p>
          <a:p>
            <a:r>
              <a:rPr lang="en-US" err="1">
                <a:latin typeface="Segoe UI"/>
                <a:cs typeface="Segoe UI"/>
              </a:rPr>
              <a:t>Могуће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је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фајл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окачити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локално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или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преко</a:t>
            </a:r>
            <a:r>
              <a:rPr lang="en-US" dirty="0">
                <a:latin typeface="Segoe UI"/>
                <a:cs typeface="Segoe UI"/>
              </a:rPr>
              <a:t> URL-a.</a:t>
            </a:r>
          </a:p>
          <a:p>
            <a:r>
              <a:rPr lang="en-US" err="1">
                <a:latin typeface="Segoe UI"/>
                <a:cs typeface="Segoe UI"/>
              </a:rPr>
              <a:t>Није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неопходна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локална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инсталација</a:t>
            </a:r>
            <a:r>
              <a:rPr lang="en-US" dirty="0">
                <a:latin typeface="Segoe UI"/>
                <a:cs typeface="Segoe UI"/>
              </a:rPr>
              <a:t>.</a:t>
            </a:r>
          </a:p>
          <a:p>
            <a:r>
              <a:rPr lang="en-US" err="1">
                <a:latin typeface="Segoe UI"/>
                <a:cs typeface="Segoe UI"/>
              </a:rPr>
              <a:t>Нуди</a:t>
            </a:r>
            <a:r>
              <a:rPr lang="en-US" dirty="0">
                <a:latin typeface="Segoe UI"/>
                <a:cs typeface="Segoe UI"/>
              </a:rPr>
              <a:t> "API" </a:t>
            </a:r>
            <a:r>
              <a:rPr lang="en-US" err="1">
                <a:latin typeface="Segoe UI"/>
                <a:cs typeface="Segoe UI"/>
              </a:rPr>
              <a:t>за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преузимање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пакета</a:t>
            </a:r>
            <a:r>
              <a:rPr lang="en-US" dirty="0">
                <a:latin typeface="Segoe UI"/>
                <a:cs typeface="Segoe UI"/>
              </a:rPr>
              <a:t>, </a:t>
            </a:r>
            <a:r>
              <a:rPr lang="en-US" err="1">
                <a:latin typeface="Segoe UI"/>
                <a:cs typeface="Segoe UI"/>
              </a:rPr>
              <a:t>сортирање</a:t>
            </a:r>
            <a:r>
              <a:rPr lang="en-US" dirty="0">
                <a:latin typeface="Segoe UI"/>
                <a:cs typeface="Segoe UI"/>
              </a:rPr>
              <a:t>, </a:t>
            </a:r>
            <a:r>
              <a:rPr lang="en-US" err="1">
                <a:latin typeface="Segoe UI"/>
                <a:cs typeface="Segoe UI"/>
              </a:rPr>
              <a:t>дељење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пакета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са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другим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корисницима</a:t>
            </a:r>
            <a:r>
              <a:rPr lang="en-US" dirty="0">
                <a:latin typeface="Segoe UI"/>
                <a:cs typeface="Segoe UI"/>
              </a:rPr>
              <a:t> и </a:t>
            </a:r>
            <a:r>
              <a:rPr lang="en-US" err="1">
                <a:latin typeface="Segoe UI"/>
                <a:cs typeface="Segoe UI"/>
              </a:rPr>
              <a:t>др</a:t>
            </a:r>
            <a:r>
              <a:rPr lang="en-US" dirty="0">
                <a:latin typeface="Segoe UI"/>
                <a:cs typeface="Segoe UI"/>
              </a:rPr>
              <a:t>.</a:t>
            </a:r>
          </a:p>
          <a:p>
            <a:r>
              <a:rPr lang="en-US" dirty="0">
                <a:latin typeface="Segoe UI"/>
                <a:cs typeface="Segoe UI"/>
              </a:rPr>
              <a:t>curl -s </a:t>
            </a:r>
            <a:r>
              <a:rPr lang="en-US" u="sng" dirty="0">
                <a:latin typeface="Segoe UI"/>
                <a:cs typeface="Segoe UI"/>
                <a:hlinkClick r:id="rId2"/>
              </a:rPr>
              <a:t>https://www.cloudshark.org/api/v1/&lt;token_id</a:t>
            </a:r>
            <a:r>
              <a:rPr lang="en-US" dirty="0">
                <a:latin typeface="Segoe UI"/>
                <a:cs typeface="Segoe UI"/>
              </a:rPr>
              <a:t>&gt;/download&lt;capture_id&gt; &gt; </a:t>
            </a:r>
            <a:r>
              <a:rPr lang="en-US" err="1">
                <a:latin typeface="Segoe UI"/>
                <a:cs typeface="Segoe UI"/>
              </a:rPr>
              <a:t>example.cap</a:t>
            </a:r>
            <a:endParaRPr lang="en-US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311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80917-9B88-82DC-7540-791DDA8BA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Segoe UI"/>
                <a:cs typeface="Segoe UI"/>
              </a:rPr>
              <a:t>Табела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поређења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софтверских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алата</a:t>
            </a:r>
            <a:endParaRPr lang="en-US" dirty="0">
              <a:latin typeface="Segoe UI"/>
              <a:cs typeface="Segoe UI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95F3AA-66D4-5DE6-25E3-86A4C62CCF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420843"/>
              </p:ext>
            </p:extLst>
          </p:nvPr>
        </p:nvGraphicFramePr>
        <p:xfrm>
          <a:off x="708650" y="2017017"/>
          <a:ext cx="10691812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953">
                  <a:extLst>
                    <a:ext uri="{9D8B030D-6E8A-4147-A177-3AD203B41FA5}">
                      <a16:colId xmlns:a16="http://schemas.microsoft.com/office/drawing/2014/main" val="3106990717"/>
                    </a:ext>
                  </a:extLst>
                </a:gridCol>
                <a:gridCol w="2672953">
                  <a:extLst>
                    <a:ext uri="{9D8B030D-6E8A-4147-A177-3AD203B41FA5}">
                      <a16:colId xmlns:a16="http://schemas.microsoft.com/office/drawing/2014/main" val="3223846666"/>
                    </a:ext>
                  </a:extLst>
                </a:gridCol>
                <a:gridCol w="2672953">
                  <a:extLst>
                    <a:ext uri="{9D8B030D-6E8A-4147-A177-3AD203B41FA5}">
                      <a16:colId xmlns:a16="http://schemas.microsoft.com/office/drawing/2014/main" val="3635776716"/>
                    </a:ext>
                  </a:extLst>
                </a:gridCol>
                <a:gridCol w="2672953">
                  <a:extLst>
                    <a:ext uri="{9D8B030D-6E8A-4147-A177-3AD203B41FA5}">
                      <a16:colId xmlns:a16="http://schemas.microsoft.com/office/drawing/2014/main" val="2760583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Алат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Wireshark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Tcpdump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Cloudshark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75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Тип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алата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Веб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655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Цена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Бесплатан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Бесплатан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Плаћа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13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Филтрирање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BPF и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BPF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447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Могућност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Подржава</a:t>
                      </a:r>
                      <a:r>
                        <a:rPr lang="en-US" dirty="0"/>
                        <a:t> 1100 </a:t>
                      </a:r>
                      <a:r>
                        <a:rPr lang="en-US" dirty="0" err="1"/>
                        <a:t>протокола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Брзина</a:t>
                      </a:r>
                      <a:r>
                        <a:rPr lang="en-US" dirty="0"/>
                        <a:t> и </a:t>
                      </a:r>
                      <a:r>
                        <a:rPr lang="en-US" dirty="0" err="1"/>
                        <a:t>поузданост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Брзо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дељење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134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0" dirty="0" err="1"/>
                        <a:t>Безбедност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Средња</a:t>
                      </a:r>
                      <a:r>
                        <a:rPr lang="en-US" dirty="0"/>
                        <a:t> / </a:t>
                      </a:r>
                      <a:r>
                        <a:rPr lang="en-US" dirty="0" err="1"/>
                        <a:t>Висока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Средња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Висока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68083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solidFill>
                            <a:srgbClr val="000000"/>
                          </a:solidFill>
                          <a:latin typeface="Calisto MT"/>
                        </a:rPr>
                        <a:t>Број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sto MT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solidFill>
                            <a:srgbClr val="000000"/>
                          </a:solidFill>
                          <a:latin typeface="Calisto MT"/>
                        </a:rPr>
                        <a:t>послова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sto MT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solidFill>
                            <a:srgbClr val="000000"/>
                          </a:solidFill>
                          <a:latin typeface="Calisto MT"/>
                        </a:rPr>
                        <a:t>на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sto MT"/>
                        </a:rPr>
                        <a:t> </a:t>
                      </a:r>
                      <a:r>
                        <a:rPr lang="en-US" sz="1800" b="0" i="1" u="none" strike="noStrike" noProof="0" dirty="0">
                          <a:solidFill>
                            <a:srgbClr val="000000"/>
                          </a:solidFill>
                          <a:latin typeface="Calisto MT"/>
                        </a:rPr>
                        <a:t>indeed.com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Око</a:t>
                      </a:r>
                      <a:r>
                        <a:rPr lang="en-US" dirty="0"/>
                        <a:t> 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Око</a:t>
                      </a:r>
                      <a:r>
                        <a:rPr lang="en-US" dirty="0"/>
                        <a:t>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Нема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325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E279FD4-F779-1F7A-98FA-E7D61922F795}"/>
              </a:ext>
            </a:extLst>
          </p:cNvPr>
          <p:cNvSpPr txBox="1"/>
          <p:nvPr/>
        </p:nvSpPr>
        <p:spPr>
          <a:xfrm>
            <a:off x="753167" y="5319205"/>
            <a:ext cx="1068137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>
                <a:solidFill>
                  <a:srgbClr val="FF0000"/>
                </a:solidFill>
                <a:latin typeface="Segoe UI"/>
                <a:cs typeface="Segoe UI"/>
              </a:rPr>
              <a:t>Познавање</a:t>
            </a:r>
            <a:r>
              <a:rPr lang="en-US" sz="200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FF0000"/>
                </a:solidFill>
                <a:latin typeface="Segoe UI"/>
                <a:cs typeface="Segoe UI"/>
              </a:rPr>
              <a:t>технологије</a:t>
            </a:r>
            <a:r>
              <a:rPr lang="en-US" sz="200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en-US" sz="2000" i="1" dirty="0">
                <a:solidFill>
                  <a:srgbClr val="FF0000"/>
                </a:solidFill>
                <a:latin typeface="Segoe UI"/>
                <a:cs typeface="Segoe UI"/>
              </a:rPr>
              <a:t>"Wireshark"</a:t>
            </a:r>
            <a:r>
              <a:rPr lang="en-US" sz="2000" dirty="0">
                <a:solidFill>
                  <a:srgbClr val="FF0000"/>
                </a:solidFill>
                <a:latin typeface="Segoe UI"/>
                <a:cs typeface="Segoe UI"/>
              </a:rPr>
              <a:t> и </a:t>
            </a:r>
            <a:r>
              <a:rPr lang="en-US" sz="2000" i="1" dirty="0">
                <a:solidFill>
                  <a:srgbClr val="FF0000"/>
                </a:solidFill>
                <a:latin typeface="Segoe UI"/>
                <a:cs typeface="Segoe UI"/>
              </a:rPr>
              <a:t>"</a:t>
            </a:r>
            <a:r>
              <a:rPr lang="en-US" sz="2000" i="1" err="1">
                <a:solidFill>
                  <a:srgbClr val="FF0000"/>
                </a:solidFill>
                <a:latin typeface="Segoe UI"/>
                <a:cs typeface="Segoe UI"/>
              </a:rPr>
              <a:t>Tcpdump</a:t>
            </a:r>
            <a:r>
              <a:rPr lang="en-US" sz="2000" i="1" dirty="0">
                <a:solidFill>
                  <a:srgbClr val="FF0000"/>
                </a:solidFill>
                <a:latin typeface="Segoe UI"/>
                <a:cs typeface="Segoe UI"/>
              </a:rPr>
              <a:t>"</a:t>
            </a:r>
            <a:r>
              <a:rPr lang="en-US" sz="200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FF0000"/>
                </a:solidFill>
                <a:latin typeface="Segoe UI"/>
                <a:cs typeface="Segoe UI"/>
              </a:rPr>
              <a:t>повећавају</a:t>
            </a:r>
            <a:r>
              <a:rPr lang="en-US" sz="200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FF0000"/>
                </a:solidFill>
                <a:latin typeface="Segoe UI"/>
                <a:cs typeface="Segoe UI"/>
              </a:rPr>
              <a:t>се</a:t>
            </a:r>
            <a:r>
              <a:rPr lang="en-US" sz="200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FF0000"/>
                </a:solidFill>
                <a:latin typeface="Segoe UI"/>
                <a:cs typeface="Segoe UI"/>
              </a:rPr>
              <a:t>број</a:t>
            </a:r>
            <a:r>
              <a:rPr lang="en-US" sz="200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FF0000"/>
                </a:solidFill>
                <a:latin typeface="Segoe UI"/>
                <a:cs typeface="Segoe UI"/>
              </a:rPr>
              <a:t>послова</a:t>
            </a:r>
            <a:r>
              <a:rPr lang="en-US" sz="2000" dirty="0">
                <a:solidFill>
                  <a:srgbClr val="FF0000"/>
                </a:solidFill>
                <a:latin typeface="Segoe UI"/>
                <a:cs typeface="Segoe UI"/>
              </a:rPr>
              <a:t> и </a:t>
            </a:r>
            <a:r>
              <a:rPr lang="en-US" sz="2000" err="1">
                <a:solidFill>
                  <a:srgbClr val="FF0000"/>
                </a:solidFill>
                <a:latin typeface="Segoe UI"/>
                <a:cs typeface="Segoe UI"/>
              </a:rPr>
              <a:t>плата</a:t>
            </a:r>
            <a:r>
              <a:rPr lang="en-US" sz="200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FF0000"/>
                </a:solidFill>
                <a:latin typeface="Segoe UI"/>
                <a:cs typeface="Segoe UI"/>
              </a:rPr>
              <a:t>на</a:t>
            </a:r>
            <a:r>
              <a:rPr lang="en-US" sz="200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FF0000"/>
                </a:solidFill>
                <a:latin typeface="Segoe UI"/>
                <a:cs typeface="Segoe UI"/>
              </a:rPr>
              <a:t>годишњем</a:t>
            </a:r>
            <a:r>
              <a:rPr lang="en-US" sz="200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FF0000"/>
                </a:solidFill>
                <a:latin typeface="Segoe UI"/>
                <a:cs typeface="Segoe UI"/>
              </a:rPr>
              <a:t>нивоу</a:t>
            </a:r>
            <a:r>
              <a:rPr lang="en-US" sz="200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FF0000"/>
                </a:solidFill>
                <a:latin typeface="Segoe UI"/>
                <a:cs typeface="Segoe UI"/>
              </a:rPr>
              <a:t>према</a:t>
            </a:r>
            <a:r>
              <a:rPr lang="en-US" sz="200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FF0000"/>
                </a:solidFill>
                <a:latin typeface="Segoe UI"/>
                <a:cs typeface="Segoe UI"/>
              </a:rPr>
              <a:t>информацијама</a:t>
            </a:r>
            <a:r>
              <a:rPr lang="en-US" sz="200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FF0000"/>
                </a:solidFill>
                <a:latin typeface="Segoe UI"/>
                <a:cs typeface="Segoe UI"/>
              </a:rPr>
              <a:t>на</a:t>
            </a:r>
            <a:r>
              <a:rPr lang="en-US" sz="200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en-US" sz="2000" i="1" dirty="0">
                <a:solidFill>
                  <a:srgbClr val="FF0000"/>
                </a:solidFill>
                <a:latin typeface="Segoe UI"/>
                <a:cs typeface="Segoe UI"/>
              </a:rPr>
              <a:t>"Indeed.com"</a:t>
            </a:r>
          </a:p>
        </p:txBody>
      </p:sp>
    </p:spTree>
    <p:extLst>
      <p:ext uri="{BB962C8B-B14F-4D97-AF65-F5344CB8AC3E}">
        <p14:creationId xmlns:p14="http://schemas.microsoft.com/office/powerpoint/2010/main" val="262139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2D530-3BA7-9F52-2EBA-DD0FB7585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err="1">
                <a:latin typeface="Segoe UI"/>
                <a:cs typeface="Segoe UI"/>
              </a:rPr>
              <a:t>Теоријска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позадина</a:t>
            </a:r>
            <a:r>
              <a:rPr lang="en-US" dirty="0">
                <a:latin typeface="Segoe UI"/>
                <a:cs typeface="Segoe UI"/>
              </a:rPr>
              <a:t>  </a:t>
            </a:r>
            <a:br>
              <a:rPr lang="en-US" dirty="0">
                <a:latin typeface="Segoe UI"/>
              </a:rPr>
            </a:br>
            <a:endParaRPr lang="en-US">
              <a:latin typeface="Segoe UI"/>
              <a:cs typeface="Segoe UI"/>
            </a:endParaRPr>
          </a:p>
        </p:txBody>
      </p:sp>
      <p:pic>
        <p:nvPicPr>
          <p:cNvPr id="4" name="Content Placeholder 3" descr="A diagram of a model&#10;&#10;AI-generated content may be incorrect.">
            <a:extLst>
              <a:ext uri="{FF2B5EF4-FFF2-40B4-BE49-F238E27FC236}">
                <a16:creationId xmlns:a16="http://schemas.microsoft.com/office/drawing/2014/main" id="{4E8EAAB3-0027-CCDE-B0D7-DA18D9117F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2070" y="1905205"/>
            <a:ext cx="8068395" cy="373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41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2CB8-F286-8D80-E4CA-D91AB1339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Segoe UI"/>
                <a:cs typeface="Segoe UI"/>
              </a:rPr>
              <a:t>Протоколи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i="1" dirty="0">
                <a:latin typeface="Segoe UI"/>
                <a:cs typeface="Segoe UI"/>
              </a:rPr>
              <a:t>OSI </a:t>
            </a:r>
            <a:r>
              <a:rPr lang="en-US" err="1">
                <a:latin typeface="Segoe UI"/>
                <a:cs typeface="Segoe UI"/>
              </a:rPr>
              <a:t>модела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D86B-BD19-C9AD-7761-FDABDAB50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Segoe UI"/>
                <a:cs typeface="Segoe UI"/>
              </a:rPr>
              <a:t>Линк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слој</a:t>
            </a:r>
            <a:r>
              <a:rPr lang="en-US" dirty="0">
                <a:latin typeface="Segoe UI"/>
                <a:cs typeface="Segoe UI"/>
              </a:rPr>
              <a:t>: ARP, PPP</a:t>
            </a:r>
          </a:p>
          <a:p>
            <a:r>
              <a:rPr lang="en-US" err="1">
                <a:latin typeface="Segoe UI"/>
                <a:cs typeface="Segoe UI"/>
              </a:rPr>
              <a:t>Мрежни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слој</a:t>
            </a:r>
            <a:r>
              <a:rPr lang="en-US" dirty="0">
                <a:latin typeface="Segoe UI"/>
                <a:cs typeface="Segoe UI"/>
              </a:rPr>
              <a:t>: IP, IPsec, ICMP</a:t>
            </a:r>
          </a:p>
          <a:p>
            <a:r>
              <a:rPr lang="en-US" err="1">
                <a:latin typeface="Segoe UI"/>
                <a:cs typeface="Segoe UI"/>
              </a:rPr>
              <a:t>Транспортни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слој</a:t>
            </a:r>
            <a:r>
              <a:rPr lang="en-US" dirty="0">
                <a:latin typeface="Segoe UI"/>
                <a:cs typeface="Segoe UI"/>
              </a:rPr>
              <a:t>: TCP, UDP</a:t>
            </a:r>
          </a:p>
          <a:p>
            <a:r>
              <a:rPr lang="en-US" err="1">
                <a:latin typeface="Segoe UI"/>
                <a:cs typeface="Segoe UI"/>
              </a:rPr>
              <a:t>Сесијски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слој</a:t>
            </a:r>
            <a:r>
              <a:rPr lang="en-US" dirty="0">
                <a:latin typeface="Segoe UI"/>
                <a:cs typeface="Segoe UI"/>
              </a:rPr>
              <a:t>: RPC, PPTP</a:t>
            </a:r>
          </a:p>
          <a:p>
            <a:r>
              <a:rPr lang="en-US" err="1">
                <a:latin typeface="Segoe UI"/>
                <a:cs typeface="Segoe UI"/>
              </a:rPr>
              <a:t>Презентациони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слој</a:t>
            </a:r>
            <a:r>
              <a:rPr lang="en-US" dirty="0">
                <a:latin typeface="Segoe UI"/>
                <a:cs typeface="Segoe UI"/>
              </a:rPr>
              <a:t>: TLS/SSL</a:t>
            </a:r>
          </a:p>
          <a:p>
            <a:r>
              <a:rPr lang="en-US" err="1">
                <a:latin typeface="Segoe UI"/>
                <a:cs typeface="Segoe UI"/>
              </a:rPr>
              <a:t>Апликациони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слој</a:t>
            </a:r>
            <a:r>
              <a:rPr lang="en-US" dirty="0">
                <a:latin typeface="Segoe UI"/>
                <a:cs typeface="Segoe UI"/>
              </a:rPr>
              <a:t>: HTTP/HTTPS, SMTP, DNS, DHCP, SSH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26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B81717-7F44-BBF4-7C47-7D1BF0D16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latin typeface="Segoe UI"/>
                <a:cs typeface="Segoe UI"/>
              </a:rPr>
              <a:t>Практични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део</a:t>
            </a:r>
            <a:r>
              <a:rPr lang="en-US" dirty="0">
                <a:latin typeface="Segoe UI"/>
                <a:cs typeface="Segoe UI"/>
              </a:rPr>
              <a:t> - Use case </a:t>
            </a:r>
            <a:r>
              <a:rPr lang="en-US" dirty="0" err="1">
                <a:latin typeface="Segoe UI"/>
                <a:cs typeface="Segoe UI"/>
              </a:rPr>
              <a:t>дијаграм</a:t>
            </a:r>
            <a:r>
              <a:rPr lang="en-US" dirty="0">
                <a:latin typeface="Segoe UI"/>
                <a:cs typeface="Segoe UI"/>
              </a:rPr>
              <a:t> </a:t>
            </a:r>
            <a:endParaRPr lang="en-US">
              <a:latin typeface="Segoe UI"/>
              <a:cs typeface="Segoe UI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 descr="A diagram of a diagram&#10;&#10;AI-generated content may be incorrect.">
            <a:extLst>
              <a:ext uri="{FF2B5EF4-FFF2-40B4-BE49-F238E27FC236}">
                <a16:creationId xmlns:a16="http://schemas.microsoft.com/office/drawing/2014/main" id="{3161732A-4E84-D823-BCB3-37F686B7C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618" y="408394"/>
            <a:ext cx="4179410" cy="604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09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A38DD-3C00-49C3-1124-FEEB57C7D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Segoe UI"/>
                <a:cs typeface="Segoe UI"/>
              </a:rPr>
              <a:t>ограничења</a:t>
            </a:r>
            <a:r>
              <a:rPr lang="en-US" dirty="0">
                <a:latin typeface="Segoe UI"/>
                <a:cs typeface="Segoe UI"/>
              </a:rPr>
              <a:t>  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F0ADF-00B6-D779-349E-6ADFA6811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Segoe UI"/>
                <a:cs typeface="Segoe UI"/>
              </a:rPr>
              <a:t>Систем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не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може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прихватити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велике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количине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i="1" dirty="0">
                <a:latin typeface="Segoe UI"/>
                <a:cs typeface="Segoe UI"/>
              </a:rPr>
              <a:t>"</a:t>
            </a:r>
            <a:r>
              <a:rPr lang="en-US" i="1" err="1">
                <a:latin typeface="Segoe UI"/>
                <a:cs typeface="Segoe UI"/>
              </a:rPr>
              <a:t>pcap</a:t>
            </a:r>
            <a:r>
              <a:rPr lang="en-US" i="1" dirty="0">
                <a:latin typeface="Segoe UI"/>
                <a:cs typeface="Segoe UI"/>
              </a:rPr>
              <a:t>" </a:t>
            </a:r>
            <a:r>
              <a:rPr lang="en-US" err="1">
                <a:latin typeface="Segoe UI"/>
                <a:cs typeface="Segoe UI"/>
              </a:rPr>
              <a:t>фајла</a:t>
            </a:r>
            <a:r>
              <a:rPr lang="en-US" dirty="0">
                <a:latin typeface="Segoe UI"/>
                <a:cs typeface="Segoe UI"/>
              </a:rPr>
              <a:t>.</a:t>
            </a:r>
          </a:p>
          <a:p>
            <a:r>
              <a:rPr lang="en-US" err="1">
                <a:latin typeface="Segoe UI"/>
                <a:cs typeface="Segoe UI"/>
              </a:rPr>
              <a:t>Апликација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учитава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из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кода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фајл</a:t>
            </a:r>
            <a:r>
              <a:rPr lang="en-US" dirty="0">
                <a:latin typeface="Segoe UI"/>
                <a:cs typeface="Segoe UI"/>
              </a:rPr>
              <a:t>. </a:t>
            </a:r>
            <a:r>
              <a:rPr lang="en-US" err="1">
                <a:latin typeface="Segoe UI"/>
                <a:cs typeface="Segoe UI"/>
              </a:rPr>
              <a:t>Нема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дугме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i="1" dirty="0">
                <a:latin typeface="Segoe UI"/>
                <a:cs typeface="Segoe UI"/>
              </a:rPr>
              <a:t>"import".</a:t>
            </a:r>
          </a:p>
          <a:p>
            <a:r>
              <a:rPr lang="en-US" err="1">
                <a:latin typeface="Segoe UI"/>
                <a:cs typeface="Segoe UI"/>
              </a:rPr>
              <a:t>Апликација</a:t>
            </a:r>
            <a:r>
              <a:rPr lang="en-US" dirty="0">
                <a:latin typeface="Segoe UI"/>
                <a:cs typeface="Segoe UI"/>
              </a:rPr>
              <a:t> </a:t>
            </a:r>
            <a:r>
              <a:rPr lang="en-US" err="1">
                <a:latin typeface="Segoe UI"/>
                <a:cs typeface="Segoe UI"/>
              </a:rPr>
              <a:t>ради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са</a:t>
            </a:r>
            <a:r>
              <a:rPr lang="en-US" dirty="0">
                <a:latin typeface="Segoe UI"/>
                <a:cs typeface="Segoe UI"/>
              </a:rPr>
              <a:t> </a:t>
            </a:r>
            <a:r>
              <a:rPr lang="en-US" i="1" dirty="0">
                <a:latin typeface="Segoe UI"/>
                <a:cs typeface="Segoe UI"/>
              </a:rPr>
              <a:t>"IPv4"</a:t>
            </a:r>
            <a:r>
              <a:rPr lang="en-US" dirty="0">
                <a:latin typeface="Segoe UI"/>
                <a:cs typeface="Segoe UI"/>
              </a:rPr>
              <a:t> </a:t>
            </a:r>
            <a:r>
              <a:rPr lang="en-US" err="1">
                <a:latin typeface="Segoe UI"/>
                <a:cs typeface="Segoe UI"/>
              </a:rPr>
              <a:t>протоколом</a:t>
            </a:r>
            <a:r>
              <a:rPr lang="en-US" dirty="0">
                <a:latin typeface="Segoe UI"/>
                <a:cs typeface="Segoe UI"/>
              </a:rPr>
              <a:t> и </a:t>
            </a:r>
            <a:r>
              <a:rPr lang="en-US" err="1">
                <a:latin typeface="Segoe UI"/>
                <a:cs typeface="Segoe UI"/>
              </a:rPr>
              <a:t>омогућује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преглед</a:t>
            </a:r>
            <a:r>
              <a:rPr lang="en-US" dirty="0">
                <a:latin typeface="Segoe UI"/>
                <a:cs typeface="Segoe UI"/>
              </a:rPr>
              <a:t> </a:t>
            </a:r>
            <a:r>
              <a:rPr lang="en-US" i="1" dirty="0">
                <a:latin typeface="Segoe UI"/>
                <a:cs typeface="Segoe UI"/>
              </a:rPr>
              <a:t>"TCP"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конекције</a:t>
            </a:r>
            <a:r>
              <a:rPr lang="en-US" dirty="0">
                <a:latin typeface="Segoe UI"/>
                <a:cs typeface="Segoe UI"/>
              </a:rPr>
              <a:t>.</a:t>
            </a:r>
          </a:p>
          <a:p>
            <a:r>
              <a:rPr lang="en-US" err="1">
                <a:latin typeface="Segoe UI"/>
                <a:cs typeface="Segoe UI"/>
              </a:rPr>
              <a:t>Недовољно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квалитетан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визуелни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приказ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приликом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извоза</a:t>
            </a:r>
            <a:r>
              <a:rPr lang="en-US" dirty="0">
                <a:latin typeface="Segoe UI"/>
                <a:cs typeface="Segoe UI"/>
              </a:rPr>
              <a:t> у </a:t>
            </a:r>
            <a:r>
              <a:rPr lang="en-US" i="1" dirty="0">
                <a:latin typeface="Segoe UI"/>
                <a:cs typeface="Segoe UI"/>
              </a:rPr>
              <a:t>"PDF"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формат</a:t>
            </a:r>
            <a:r>
              <a:rPr lang="en-US" dirty="0">
                <a:latin typeface="Segoe UI"/>
                <a:cs typeface="Segoe UI"/>
              </a:rPr>
              <a:t> .</a:t>
            </a:r>
          </a:p>
          <a:p>
            <a:r>
              <a:rPr lang="en-US" err="1">
                <a:latin typeface="Segoe UI"/>
                <a:cs typeface="Segoe UI"/>
              </a:rPr>
              <a:t>Ограничења</a:t>
            </a:r>
            <a:r>
              <a:rPr lang="en-US" dirty="0">
                <a:latin typeface="Segoe UI"/>
                <a:cs typeface="Segoe UI"/>
              </a:rPr>
              <a:t> </a:t>
            </a:r>
            <a:r>
              <a:rPr lang="en-US" err="1">
                <a:latin typeface="Segoe UI"/>
                <a:cs typeface="Segoe UI"/>
              </a:rPr>
              <a:t>флексибилности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употребе</a:t>
            </a:r>
            <a:r>
              <a:rPr lang="en-US" dirty="0">
                <a:latin typeface="Segoe UI"/>
                <a:cs typeface="Segoe UI"/>
              </a:rPr>
              <a:t>. </a:t>
            </a:r>
            <a:r>
              <a:rPr lang="en-US" err="1">
                <a:latin typeface="Segoe UI"/>
                <a:cs typeface="Segoe UI"/>
              </a:rPr>
              <a:t>Тражи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се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искључиво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параметар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i="1" dirty="0">
                <a:latin typeface="Segoe UI"/>
                <a:cs typeface="Segoe UI"/>
              </a:rPr>
              <a:t>"app id"</a:t>
            </a:r>
            <a:r>
              <a:rPr lang="en-US" dirty="0">
                <a:latin typeface="Segoe UI"/>
                <a:cs typeface="Segoe UI"/>
              </a:rPr>
              <a:t>. </a:t>
            </a:r>
          </a:p>
          <a:p>
            <a:r>
              <a:rPr lang="en-US" err="1">
                <a:latin typeface="Segoe UI"/>
                <a:cs typeface="Segoe UI"/>
              </a:rPr>
              <a:t>Ограничен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број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доступних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филтера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за</a:t>
            </a:r>
            <a:r>
              <a:rPr lang="en-US" dirty="0">
                <a:latin typeface="Segoe UI"/>
                <a:cs typeface="Segoe UI"/>
              </a:rPr>
              <a:t> </a:t>
            </a:r>
            <a:r>
              <a:rPr lang="en-US" err="1">
                <a:latin typeface="Segoe UI"/>
                <a:cs typeface="Segoe UI"/>
              </a:rPr>
              <a:t>филтрирање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err="1">
                <a:latin typeface="Segoe UI"/>
                <a:cs typeface="Segoe UI"/>
              </a:rPr>
              <a:t>пакета</a:t>
            </a:r>
            <a:r>
              <a:rPr lang="en-US" dirty="0">
                <a:latin typeface="Segoe UI"/>
                <a:cs typeface="Segoe UI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15102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8F63C-439D-85AA-E0F6-70D05548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Референеце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EEDA7-5830-7641-4777-429337865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1333399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egoe UI"/>
                <a:cs typeface="Segoe UI"/>
              </a:rPr>
              <a:t>Wireshark: </a:t>
            </a:r>
            <a:r>
              <a:rPr lang="en-US" u="sng" dirty="0">
                <a:latin typeface="Segoe UI"/>
                <a:cs typeface="Segoe UI"/>
                <a:hlinkClick r:id="rId2"/>
              </a:rPr>
              <a:t>https://www.wireshark.org/docs/wsug_html_chunked/ChapterIntroduction.html#ChIntroWhatIs</a:t>
            </a:r>
            <a:endParaRPr lang="en-US" dirty="0">
              <a:latin typeface="Segoe UI"/>
              <a:cs typeface="Segoe UI"/>
            </a:endParaRPr>
          </a:p>
          <a:p>
            <a:r>
              <a:rPr lang="en-US" dirty="0" err="1">
                <a:latin typeface="Segoe UI"/>
                <a:cs typeface="Segoe UI"/>
              </a:rPr>
              <a:t>Tcpdump</a:t>
            </a:r>
            <a:r>
              <a:rPr lang="en-US" dirty="0">
                <a:latin typeface="Segoe UI"/>
                <a:cs typeface="Segoe UI"/>
              </a:rPr>
              <a:t>: </a:t>
            </a:r>
            <a:r>
              <a:rPr lang="en-US" u="sng" dirty="0">
                <a:latin typeface="Segoe UI"/>
                <a:cs typeface="Segoe UI"/>
                <a:hlinkClick r:id="rId3"/>
              </a:rPr>
              <a:t>https://www.redhat.com/en/blog/introduction-using-tcpdump-linux-command-line</a:t>
            </a:r>
            <a:endParaRPr lang="en-US" u="sng">
              <a:latin typeface="Segoe UI"/>
              <a:cs typeface="Segoe UI"/>
            </a:endParaRPr>
          </a:p>
          <a:p>
            <a:r>
              <a:rPr lang="en-US" err="1">
                <a:latin typeface="Segoe UI"/>
                <a:cs typeface="Segoe UI"/>
              </a:rPr>
              <a:t>CloudShark</a:t>
            </a:r>
            <a:r>
              <a:rPr lang="en-US" dirty="0">
                <a:latin typeface="Segoe UI"/>
                <a:cs typeface="Segoe UI"/>
              </a:rPr>
              <a:t>: </a:t>
            </a:r>
            <a:r>
              <a:rPr lang="en-US" u="sng" dirty="0">
                <a:latin typeface="Segoe UI"/>
                <a:cs typeface="Segoe UI"/>
                <a:hlinkClick r:id="rId4"/>
              </a:rPr>
              <a:t>https://support.qacafe.com/cloudshark/api/</a:t>
            </a:r>
            <a:endParaRPr lang="en-US" u="sng">
              <a:latin typeface="Segoe UI"/>
              <a:cs typeface="Segoe UI"/>
            </a:endParaRPr>
          </a:p>
          <a:p>
            <a:r>
              <a:rPr lang="en-US" dirty="0">
                <a:latin typeface="Segoe UI"/>
                <a:cs typeface="Segoe UI"/>
              </a:rPr>
              <a:t>OSI </a:t>
            </a:r>
            <a:r>
              <a:rPr lang="en-US" dirty="0" err="1">
                <a:latin typeface="Segoe UI"/>
                <a:cs typeface="Segoe UI"/>
              </a:rPr>
              <a:t>модел</a:t>
            </a:r>
            <a:r>
              <a:rPr lang="en-US" dirty="0">
                <a:latin typeface="Segoe UI"/>
                <a:cs typeface="Segoe UI"/>
              </a:rPr>
              <a:t>: </a:t>
            </a:r>
            <a:r>
              <a:rPr lang="en-US" u="sng" dirty="0">
                <a:latin typeface="Segoe UI"/>
                <a:cs typeface="Segoe UI"/>
                <a:hlinkClick r:id="rId5"/>
              </a:rPr>
              <a:t>https://www.geeksforgeeks.org/computer-networks/open-systems-interconnection-model-osi/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94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C2F1E-9AF5-E020-03C8-9B6B52E47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273" y="2778868"/>
            <a:ext cx="10691265" cy="1307592"/>
          </a:xfrm>
        </p:spPr>
        <p:txBody>
          <a:bodyPr/>
          <a:lstStyle/>
          <a:p>
            <a:pPr algn="ctr"/>
            <a:r>
              <a:rPr lang="en-US" sz="4800" dirty="0" err="1">
                <a:latin typeface="Segoe UI"/>
                <a:cs typeface="Segoe UI"/>
              </a:rPr>
              <a:t>Хвала</a:t>
            </a:r>
            <a:r>
              <a:rPr lang="en-US" sz="4800" dirty="0">
                <a:latin typeface="Segoe UI"/>
                <a:cs typeface="Segoe UI"/>
              </a:rPr>
              <a:t> </a:t>
            </a:r>
            <a:r>
              <a:rPr lang="en-US" sz="4800" dirty="0" err="1">
                <a:latin typeface="Segoe UI"/>
                <a:cs typeface="Segoe UI"/>
              </a:rPr>
              <a:t>вам</a:t>
            </a:r>
            <a:r>
              <a:rPr lang="en-US" sz="4800" dirty="0">
                <a:latin typeface="Segoe UI"/>
                <a:cs typeface="Segoe UI"/>
              </a:rPr>
              <a:t> </a:t>
            </a:r>
            <a:r>
              <a:rPr lang="en-US" sz="4800" dirty="0" err="1">
                <a:latin typeface="Segoe UI"/>
                <a:cs typeface="Segoe UI"/>
              </a:rPr>
              <a:t>на</a:t>
            </a:r>
            <a:r>
              <a:rPr lang="en-US" sz="4800" dirty="0">
                <a:latin typeface="Segoe UI"/>
                <a:cs typeface="Segoe UI"/>
              </a:rPr>
              <a:t> </a:t>
            </a:r>
            <a:r>
              <a:rPr lang="en-US" sz="4800" dirty="0" err="1">
                <a:latin typeface="Segoe UI"/>
                <a:cs typeface="Segoe UI"/>
              </a:rPr>
              <a:t>пажњи</a:t>
            </a:r>
            <a:r>
              <a:rPr lang="en-US" sz="4800" dirty="0">
                <a:latin typeface="Segoe UI"/>
                <a:cs typeface="Segoe UI"/>
              </a:rPr>
              <a:t>!</a:t>
            </a:r>
            <a:endParaRPr lang="en-US" sz="4800" dirty="0">
              <a:latin typeface="Univers Condensed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5567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ChronicleVTI</vt:lpstr>
      <vt:lpstr>Форензика мрежног саобраћаја помоћу Wireshark-a</vt:lpstr>
      <vt:lpstr>Увод</vt:lpstr>
      <vt:lpstr>Wireshark</vt:lpstr>
      <vt:lpstr>TcpDUMP</vt:lpstr>
      <vt:lpstr>Cloudshark </vt:lpstr>
      <vt:lpstr>Табела поређења софтверских алата</vt:lpstr>
      <vt:lpstr>Теоријска позадина   </vt:lpstr>
      <vt:lpstr>Протоколи OSI модела</vt:lpstr>
      <vt:lpstr>Практични део - Use case дијаграм </vt:lpstr>
      <vt:lpstr>ограничења  </vt:lpstr>
      <vt:lpstr>Референеце</vt:lpstr>
      <vt:lpstr>Хвала вам на пажњи!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386</cp:revision>
  <dcterms:created xsi:type="dcterms:W3CDTF">2025-09-11T18:28:55Z</dcterms:created>
  <dcterms:modified xsi:type="dcterms:W3CDTF">2025-09-12T09:47:32Z</dcterms:modified>
</cp:coreProperties>
</file>